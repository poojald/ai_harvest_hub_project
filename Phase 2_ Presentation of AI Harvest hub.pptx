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63" r:id="rId11"/>
    <p:sldId id="270" r:id="rId12"/>
    <p:sldId id="271" r:id="rId13"/>
    <p:sldId id="272" r:id="rId14"/>
    <p:sldId id="264" r:id="rId15"/>
    <p:sldId id="265" r:id="rId16"/>
    <p:sldId id="266" r:id="rId17"/>
    <p:sldId id="267" r:id="rId18"/>
  </p:sldIdLst>
  <p:sldSz cx="9144000" cy="5143500" type="screen16x9"/>
  <p:notesSz cx="6858000" cy="9144000"/>
  <p:embeddedFontLst>
    <p:embeddedFont>
      <p:font typeface="Helvetica Neue" panose="020B0604020202020204" charset="0"/>
      <p:regular r:id="rId20"/>
      <p:bold r:id="rId21"/>
      <p:italic r:id="rId22"/>
      <p:boldItalic r:id="rId23"/>
    </p:embeddedFont>
    <p:embeddedFont>
      <p:font typeface="Helvetica Neue Light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YWJBtbwI2f3eR+P45eHJopK7O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3F6710-D862-490A-8465-586B70FE38A5}">
  <a:tblStyle styleId="{573F6710-D862-490A-8465-586B70FE38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841a0f086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4" name="Google Shape;74;g3a841a0f086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61f4e99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2" name="Google Shape;82;g3bb61f4e99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938ca1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0" name="Google Shape;90;g3a9938ca1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41a0f086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8" name="Google Shape;98;g3a841a0f086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b61f4e995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6" name="Google Shape;106;g3bb61f4e995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928b83b5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4" name="Google Shape;114;g3a928b83b5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b61f4e99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2" name="Google Shape;122;g3bb61f4e99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b61f4e99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0" name="Google Shape;130;g3bb61f4e99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b61f4e99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7" name="Google Shape;137;g3bb61f4e99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b61f4e995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5" name="Google Shape;145;g3bb61f4e995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2_1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33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SUMMER INTERNSHIP | 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7700/jai.2025.xxxxxx" TargetMode="External"/><Relationship Id="rId2" Type="http://schemas.openxmlformats.org/officeDocument/2006/relationships/hyperlink" Target="https://doi.org/10.1016/j.compag.2024.xxxxx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aiia.2024.xxxxxx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swa.2025.xxxxxx" TargetMode="External"/><Relationship Id="rId2" Type="http://schemas.openxmlformats.org/officeDocument/2006/relationships/hyperlink" Target="https://doi.org/10.1016/j.envsoft.2024.xxxxxx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760100" y="1989650"/>
            <a:ext cx="703832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600" b="1" dirty="0"/>
              <a:t>Farming faces challenges due to lack of smart systems, climate issues, and resource mismanagement.</a:t>
            </a:r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4294967295"/>
          </p:nvPr>
        </p:nvSpPr>
        <p:spPr>
          <a:xfrm>
            <a:off x="760100" y="2636150"/>
            <a:ext cx="3811800" cy="21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Science and AI ML </a:t>
            </a:r>
            <a:endParaRPr sz="1400" b="0" i="0" u="none" strike="noStrike" cap="none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Members: 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1.Pooja Dematti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2.Pooja Wandimali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3.Simran Nadaf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4.Mohammada Tohid Jamadar</a:t>
            </a: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8" name="Google Shape;58;p1"/>
          <p:cNvGrpSpPr/>
          <p:nvPr/>
        </p:nvGrpSpPr>
        <p:grpSpPr>
          <a:xfrm>
            <a:off x="556474" y="261338"/>
            <a:ext cx="8207554" cy="1097424"/>
            <a:chOff x="556474" y="261338"/>
            <a:chExt cx="8207554" cy="1097424"/>
          </a:xfrm>
        </p:grpSpPr>
        <p:pic>
          <p:nvPicPr>
            <p:cNvPr id="59" name="Google Shape;59;p1"/>
            <p:cNvPicPr preferRelativeResize="0"/>
            <p:nvPr/>
          </p:nvPicPr>
          <p:blipFill rotWithShape="1">
            <a:blip r:embed="rId3">
              <a:alphaModFix/>
            </a:blip>
            <a:srcRect t="23174" b="23167"/>
            <a:stretch/>
          </p:blipFill>
          <p:spPr>
            <a:xfrm>
              <a:off x="556474" y="522675"/>
              <a:ext cx="3134699" cy="57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" title="ERA LOGO PNG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95230" y="261338"/>
              <a:ext cx="868798" cy="1097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62" name="Google Shape;62;p1"/>
          <p:cNvSpPr txBox="1">
            <a:spLocks noGrp="1"/>
          </p:cNvSpPr>
          <p:nvPr>
            <p:ph type="subTitle" idx="4294967295"/>
          </p:nvPr>
        </p:nvSpPr>
        <p:spPr>
          <a:xfrm>
            <a:off x="4098175" y="2636150"/>
            <a:ext cx="20730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GB" sz="1400" dirty="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Guide : Sachin Patil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400" dirty="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891600" y="2569574"/>
            <a:ext cx="7360800" cy="2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 Light"/>
              <a:buChar char="●"/>
            </a:pPr>
            <a:r>
              <a:rPr lang="en-GB" sz="1300">
                <a:solidFill>
                  <a:schemeClr val="dk1"/>
                </a:solidFill>
              </a:rPr>
              <a:t>Introduction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chemeClr val="dk1"/>
                </a:solidFill>
              </a:rPr>
              <a:t>SMART Objectives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chemeClr val="dk1"/>
                </a:solidFill>
              </a:rPr>
              <a:t>5W1H Analysis and SCAMPER Ideation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chemeClr val="dk1"/>
                </a:solidFill>
              </a:rPr>
              <a:t>Literature Insights (Short)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chemeClr val="dk1"/>
                </a:solidFill>
              </a:rPr>
              <a:t>Proposed Solution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chemeClr val="dk1"/>
                </a:solidFill>
              </a:rPr>
              <a:t>System Overview (Basic Diagram)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Gantt Chart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Expected Outcome</a:t>
            </a: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1003975" y="1763600"/>
            <a:ext cx="50697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Agenda:</a:t>
            </a:r>
            <a:endParaRPr sz="3100" b="1" i="0" u="none" strike="noStrike" cap="none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045075" y="2266500"/>
            <a:ext cx="49875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FF4A0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2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a841a0f086_0_91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a841a0f086_0_91"/>
          <p:cNvSpPr txBox="1"/>
          <p:nvPr/>
        </p:nvSpPr>
        <p:spPr>
          <a:xfrm>
            <a:off x="291584" y="1150383"/>
            <a:ext cx="7848805" cy="390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Farmers lack a unified and intelligent system for making accurate, real-time agricultural decisions.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Climate change causes unpredictable weather patterns, leading to crop failures and reduced yield.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Soil degradation and improper fertilizer usage negatively impact productivity.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Frequent pest attacks and crop diseases increase losses.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Water scarcity and inefficient irrigation practices affect farming efficiency.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Market price fluctuations create uncertainty and financial instability for farmers.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Traditional farming relies heavily on experience rather than data-driven insights.</a:t>
            </a:r>
            <a:endParaRPr sz="1600" dirty="0">
              <a:solidFill>
                <a:srgbClr val="595959"/>
              </a:solidFill>
              <a:latin typeface="Helvetica Neue" panose="020B0604020202020204" charset="0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8" name="Google Shape;78;g3a841a0f086_0_91"/>
          <p:cNvSpPr txBox="1"/>
          <p:nvPr/>
        </p:nvSpPr>
        <p:spPr>
          <a:xfrm>
            <a:off x="410531" y="310072"/>
            <a:ext cx="7531500" cy="656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g3a841a0f086_0_91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bb61f4e995_0_2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bb61f4e995_0_24"/>
          <p:cNvSpPr txBox="1"/>
          <p:nvPr/>
        </p:nvSpPr>
        <p:spPr>
          <a:xfrm>
            <a:off x="192667" y="629894"/>
            <a:ext cx="8007508" cy="4513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Area: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Agriculture faces challenges like climate change, soil degradation, water scarcity, pest attacks, and unstable market prices.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Lack of data-driven decision-making reduces productivity and farmer income.</a:t>
            </a:r>
            <a:endParaRPr sz="1500" b="1" dirty="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Faces This Problem?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Helvetica Neue" panose="020B0604020202020204" charset="0"/>
              </a:rPr>
              <a:t>Farmers (small-scale and large-scale).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Helvetica Neue" panose="020B0604020202020204" charset="0"/>
              </a:rPr>
              <a:t>Agricultural experts and researchers.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Helvetica Neue" panose="020B0604020202020204" charset="0"/>
              </a:rPr>
              <a:t>Government and agricultural organizations.</a:t>
            </a:r>
            <a:endParaRPr sz="1500" b="1" dirty="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Does It Occur?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Predominantly in rural and semi-urban agricultural regions.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Especially in developing countries like India.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Areas with limited access to modern technology and real-time data.</a:t>
            </a:r>
            <a:endParaRPr sz="1600" b="1" dirty="0">
              <a:solidFill>
                <a:srgbClr val="595959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g3bb61f4e995_0_24"/>
          <p:cNvSpPr txBox="1"/>
          <p:nvPr/>
        </p:nvSpPr>
        <p:spPr>
          <a:xfrm>
            <a:off x="291585" y="83162"/>
            <a:ext cx="7531500" cy="55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g3bb61f4e995_0_2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59156-A01F-CFB8-897B-2A52DBF2B4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D547B4-1DC0-1C81-A576-AC32B4DE1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150" y="527050"/>
            <a:ext cx="8521700" cy="404177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400" b="1" dirty="0">
                <a:solidFill>
                  <a:schemeClr val="tx2">
                    <a:lumMod val="50000"/>
                  </a:schemeClr>
                </a:solidFill>
              </a:rPr>
              <a:t>Why Is It Important?</a:t>
            </a:r>
          </a:p>
          <a:p>
            <a:pPr marL="114300" indent="0">
              <a:buNone/>
            </a:pPr>
            <a:endParaRPr lang="en-IN" sz="14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Agriculture is the backbone of the economy and food supply.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Improving farming efficiency ensures food security.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Helps increase farmer income and reduce risks.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Supports sustainable and smart farming practices.</a:t>
            </a:r>
            <a:endParaRPr lang="en-IN" sz="1600" b="1" dirty="0">
              <a:solidFill>
                <a:schemeClr val="tx1"/>
              </a:solidFill>
              <a:latin typeface="Helvetica Neu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37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9938ca1de_0_0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a9938ca1de_0_0"/>
          <p:cNvSpPr txBox="1"/>
          <p:nvPr/>
        </p:nvSpPr>
        <p:spPr>
          <a:xfrm>
            <a:off x="70337" y="409871"/>
            <a:ext cx="8486365" cy="464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Objective 1: Specific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Develop a smart agricultural decision-support system (</a:t>
            </a:r>
            <a:r>
              <a:rPr lang="en-US" sz="1600" b="1" dirty="0">
                <a:latin typeface="Helvetica Neue" panose="020B0604020202020204" charset="0"/>
              </a:rPr>
              <a:t>AI Harvest Hub</a:t>
            </a:r>
            <a:r>
              <a:rPr lang="en-US" sz="1600" dirty="0">
                <a:latin typeface="Helvetica Neue" panose="020B0604020202020204" charset="0"/>
              </a:rPr>
              <a:t>) integrating multiple prediction models (crop, yield, drought, pest, market).</a:t>
            </a:r>
          </a:p>
          <a:p>
            <a:pPr lvl="0">
              <a:lnSpc>
                <a:spcPct val="150000"/>
              </a:lnSpc>
              <a:buSzPts val="1500"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Objective 2: Measurable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Achieve accurate and reliable predictions using </a:t>
            </a:r>
            <a:r>
              <a:rPr lang="en-US" sz="1600" b="1" dirty="0">
                <a:latin typeface="Helvetica Neue" panose="020B0604020202020204" charset="0"/>
              </a:rPr>
              <a:t>Random Forest algorithms.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Evaluate performance using metrics like accuracy and error rate.</a:t>
            </a:r>
          </a:p>
          <a:p>
            <a:pPr lvl="0">
              <a:lnSpc>
                <a:spcPct val="150000"/>
              </a:lnSpc>
              <a:buSzPts val="1500"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Objective 3: Achievable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Build a multi-functional platform using available datasets and machine learning techniques.</a:t>
            </a:r>
          </a:p>
          <a:p>
            <a:pPr marL="285750" lvl="0" indent="-285750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Implement AI-based modules for crop recommendation, risk prediction, and market analysis.</a:t>
            </a:r>
            <a:endParaRPr sz="1600" dirty="0">
              <a:solidFill>
                <a:srgbClr val="595959"/>
              </a:solidFill>
              <a:latin typeface="Helvetica Neue" panose="020B0604020202020204" charset="0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4" name="Google Shape;94;g3a9938ca1de_0_0"/>
          <p:cNvSpPr txBox="1"/>
          <p:nvPr/>
        </p:nvSpPr>
        <p:spPr>
          <a:xfrm>
            <a:off x="137660" y="22575"/>
            <a:ext cx="6509904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 (SMART)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3a9938ca1de_0_0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31750-6C18-7FB3-16E3-875FC02E6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01444"/>
            <a:ext cx="8520600" cy="4167431"/>
          </a:xfrm>
        </p:spPr>
        <p:txBody>
          <a:bodyPr/>
          <a:lstStyle/>
          <a:p>
            <a:pPr marL="0" lvl="0" indent="0">
              <a:lnSpc>
                <a:spcPct val="150000"/>
              </a:lnSpc>
              <a:buClr>
                <a:srgbClr val="000000"/>
              </a:buClr>
              <a:buSzPts val="1500"/>
              <a:buNone/>
            </a:pPr>
            <a:r>
              <a:rPr lang="en-US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Objective 4: Relevant</a:t>
            </a:r>
          </a:p>
          <a:p>
            <a:pPr marL="285750" lvl="0" indent="-285750">
              <a:lnSpc>
                <a:spcPct val="150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Assist farmers in making informed decisions on crop selection and resource utilization.</a:t>
            </a:r>
          </a:p>
          <a:p>
            <a:pPr marL="285750" lvl="0" indent="-285750">
              <a:lnSpc>
                <a:spcPct val="150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Forecast environmental risks such as drought and pest infestations.</a:t>
            </a:r>
          </a:p>
          <a:p>
            <a:pPr marL="285750" lvl="0" indent="-285750">
              <a:lnSpc>
                <a:spcPct val="150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Provide real-time market insights to improve profitability.</a:t>
            </a:r>
          </a:p>
          <a:p>
            <a:pPr marL="285750" lvl="0" indent="-285750">
              <a:lnSpc>
                <a:spcPct val="150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Integrate AI-generated explanations for better usability.</a:t>
            </a:r>
          </a:p>
          <a:p>
            <a:pPr marL="0" lvl="0" indent="0">
              <a:lnSpc>
                <a:spcPct val="150000"/>
              </a:lnSpc>
              <a:buClr>
                <a:srgbClr val="000000"/>
              </a:buClr>
              <a:buSzPts val="15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buClr>
                <a:srgbClr val="000000"/>
              </a:buClr>
              <a:buSzPts val="1500"/>
              <a:buNone/>
            </a:pPr>
            <a:r>
              <a:rPr lang="en-US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Objective 5: Time Bound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Develop and deploy a scalable and secure system within the project timeline using modern web technologies.</a:t>
            </a:r>
            <a:endParaRPr lang="en-US" sz="1600" dirty="0">
              <a:solidFill>
                <a:schemeClr val="tx1"/>
              </a:solidFill>
              <a:latin typeface="Helvetica Neue" panose="020B0604020202020204" charset="0"/>
              <a:ea typeface="Helvetica Neue Light"/>
              <a:cs typeface="Helvetica Neue Light"/>
              <a:sym typeface="Helvetica Neue Light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68A3E-CC6A-0E56-2AC3-043707AE9C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16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a841a0f086_0_105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a841a0f086_0_105"/>
          <p:cNvSpPr txBox="1"/>
          <p:nvPr/>
        </p:nvSpPr>
        <p:spPr>
          <a:xfrm>
            <a:off x="200722" y="267629"/>
            <a:ext cx="6215253" cy="55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5W1H Analysis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g3a841a0f086_0_105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D9ABF0-5FF3-58DF-3CD7-A2D4942B3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547788"/>
              </p:ext>
            </p:extLst>
          </p:nvPr>
        </p:nvGraphicFramePr>
        <p:xfrm>
          <a:off x="200722" y="956778"/>
          <a:ext cx="8585552" cy="4012364"/>
        </p:xfrm>
        <a:graphic>
          <a:graphicData uri="http://schemas.openxmlformats.org/drawingml/2006/table">
            <a:tbl>
              <a:tblPr/>
              <a:tblGrid>
                <a:gridCol w="4292776">
                  <a:extLst>
                    <a:ext uri="{9D8B030D-6E8A-4147-A177-3AD203B41FA5}">
                      <a16:colId xmlns:a16="http://schemas.microsoft.com/office/drawing/2014/main" val="2733077285"/>
                    </a:ext>
                  </a:extLst>
                </a:gridCol>
                <a:gridCol w="4292776">
                  <a:extLst>
                    <a:ext uri="{9D8B030D-6E8A-4147-A177-3AD203B41FA5}">
                      <a16:colId xmlns:a16="http://schemas.microsoft.com/office/drawing/2014/main" val="734657304"/>
                    </a:ext>
                  </a:extLst>
                </a:gridCol>
              </a:tblGrid>
              <a:tr h="39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5W1H Element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Description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632433"/>
                  </a:ext>
                </a:extLst>
              </a:tr>
              <a:tr h="66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WHAT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Helvetica Neue" panose="020B0604020202020204" charset="0"/>
                        </a:rPr>
                        <a:t>A smart agriculture platform that provides predictive analytics and decision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14708"/>
                  </a:ext>
                </a:extLst>
              </a:tr>
              <a:tr h="66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Helvetica Neue" panose="020B0604020202020204" charset="0"/>
                        </a:rPr>
                        <a:t>WHY</a:t>
                      </a:r>
                      <a:endParaRPr lang="en-IN" sz="1600" dirty="0">
                        <a:latin typeface="Helvetica Neue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elvetica Neue" panose="020B0604020202020204" charset="0"/>
                        </a:rPr>
                        <a:t>To address inefficiencies and uncertainties in farming practices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563794"/>
                  </a:ext>
                </a:extLst>
              </a:tr>
              <a:tr h="66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Helvetica Neue" panose="020B0604020202020204" charset="0"/>
                        </a:rPr>
                        <a:t>WHO</a:t>
                      </a:r>
                      <a:endParaRPr lang="en-IN" sz="1600" dirty="0">
                        <a:latin typeface="Helvetica Neue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elvetica Neue" panose="020B0604020202020204" charset="0"/>
                        </a:rPr>
                        <a:t>Farmers, agronomists, researchers, and policymakers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47437"/>
                  </a:ext>
                </a:extLst>
              </a:tr>
              <a:tr h="568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Helvetica Neue" panose="020B0604020202020204" charset="0"/>
                        </a:rPr>
                        <a:t>WHERE</a:t>
                      </a:r>
                      <a:endParaRPr lang="en-IN" sz="1600" dirty="0">
                        <a:latin typeface="Helvetica Neue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elvetica Neue" panose="020B0604020202020204" charset="0"/>
                        </a:rPr>
                        <a:t>Rural and urban agricultural regions worldwide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746663"/>
                  </a:ext>
                </a:extLst>
              </a:tr>
              <a:tr h="39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WHEN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Helvetica Neue" panose="020B0604020202020204" charset="0"/>
                        </a:rPr>
                        <a:t>Throughout the farming lifecycle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943742"/>
                  </a:ext>
                </a:extLst>
              </a:tr>
              <a:tr h="66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Helvetica Neue" panose="020B0604020202020204" charset="0"/>
                        </a:rPr>
                        <a:t>HOW</a:t>
                      </a:r>
                      <a:endParaRPr lang="en-IN" sz="1600" dirty="0">
                        <a:latin typeface="Helvetica Neue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elvetica Neue" panose="020B0604020202020204" charset="0"/>
                        </a:rPr>
                        <a:t>By integrating machine learning models, APIs, and AI-based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78382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43ABF3-FE94-C9EB-23E9-A2F94E90E1D7}"/>
              </a:ext>
            </a:extLst>
          </p:cNvPr>
          <p:cNvCxnSpPr>
            <a:cxnSpLocks/>
          </p:cNvCxnSpPr>
          <p:nvPr/>
        </p:nvCxnSpPr>
        <p:spPr>
          <a:xfrm>
            <a:off x="3241288" y="965438"/>
            <a:ext cx="0" cy="4017242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A25D7-BFD2-3AB3-EA64-B9A43E365F8E}"/>
              </a:ext>
            </a:extLst>
          </p:cNvPr>
          <p:cNvCxnSpPr>
            <a:cxnSpLocks/>
          </p:cNvCxnSpPr>
          <p:nvPr/>
        </p:nvCxnSpPr>
        <p:spPr>
          <a:xfrm>
            <a:off x="228994" y="1382752"/>
            <a:ext cx="8585552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049967-1739-D751-1F36-E53007E69A27}"/>
              </a:ext>
            </a:extLst>
          </p:cNvPr>
          <p:cNvCxnSpPr>
            <a:cxnSpLocks/>
          </p:cNvCxnSpPr>
          <p:nvPr/>
        </p:nvCxnSpPr>
        <p:spPr>
          <a:xfrm>
            <a:off x="221112" y="956777"/>
            <a:ext cx="0" cy="40456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E7EB88-E3A3-0C41-A1E3-1E6770C398F2}"/>
              </a:ext>
            </a:extLst>
          </p:cNvPr>
          <p:cNvCxnSpPr>
            <a:cxnSpLocks/>
          </p:cNvCxnSpPr>
          <p:nvPr/>
        </p:nvCxnSpPr>
        <p:spPr>
          <a:xfrm>
            <a:off x="8832850" y="965438"/>
            <a:ext cx="0" cy="4015227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422842-F75D-32A4-DC11-8A2C358DA88E}"/>
              </a:ext>
            </a:extLst>
          </p:cNvPr>
          <p:cNvCxnSpPr>
            <a:cxnSpLocks/>
          </p:cNvCxnSpPr>
          <p:nvPr/>
        </p:nvCxnSpPr>
        <p:spPr>
          <a:xfrm>
            <a:off x="221758" y="956777"/>
            <a:ext cx="8626340" cy="8661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78F065-4FCB-F658-3AD4-ED3A9A600864}"/>
              </a:ext>
            </a:extLst>
          </p:cNvPr>
          <p:cNvCxnSpPr>
            <a:cxnSpLocks/>
          </p:cNvCxnSpPr>
          <p:nvPr/>
        </p:nvCxnSpPr>
        <p:spPr>
          <a:xfrm flipV="1">
            <a:off x="221112" y="4958889"/>
            <a:ext cx="8585552" cy="43553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bb61f4e995_0_67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bb61f4e995_0_67"/>
          <p:cNvSpPr txBox="1"/>
          <p:nvPr/>
        </p:nvSpPr>
        <p:spPr>
          <a:xfrm>
            <a:off x="416312" y="1278673"/>
            <a:ext cx="8095785" cy="3523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0" name="Google Shape;110;g3bb61f4e995_0_67"/>
          <p:cNvSpPr txBox="1"/>
          <p:nvPr/>
        </p:nvSpPr>
        <p:spPr>
          <a:xfrm>
            <a:off x="357726" y="419425"/>
            <a:ext cx="5973000" cy="532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SCAMPER Ideation (Optional)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g3bb61f4e995_0_67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51578A-8CC1-2DD8-6E73-ED79B5802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408557"/>
              </p:ext>
            </p:extLst>
          </p:nvPr>
        </p:nvGraphicFramePr>
        <p:xfrm>
          <a:off x="200722" y="972961"/>
          <a:ext cx="8524064" cy="4027276"/>
        </p:xfrm>
        <a:graphic>
          <a:graphicData uri="http://schemas.openxmlformats.org/drawingml/2006/table">
            <a:tbl>
              <a:tblPr/>
              <a:tblGrid>
                <a:gridCol w="4262032">
                  <a:extLst>
                    <a:ext uri="{9D8B030D-6E8A-4147-A177-3AD203B41FA5}">
                      <a16:colId xmlns:a16="http://schemas.microsoft.com/office/drawing/2014/main" val="3385598201"/>
                    </a:ext>
                  </a:extLst>
                </a:gridCol>
                <a:gridCol w="4262032">
                  <a:extLst>
                    <a:ext uri="{9D8B030D-6E8A-4147-A177-3AD203B41FA5}">
                      <a16:colId xmlns:a16="http://schemas.microsoft.com/office/drawing/2014/main" val="3779666902"/>
                    </a:ext>
                  </a:extLst>
                </a:gridCol>
              </a:tblGrid>
              <a:tr h="345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SCAMPER Element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Description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389246"/>
                  </a:ext>
                </a:extLst>
              </a:tr>
              <a:tr h="598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Helvetica Neue" panose="020B0604020202020204" charset="0"/>
                        </a:rPr>
                        <a:t>Substitute</a:t>
                      </a:r>
                      <a:endParaRPr lang="en-IN" sz="1600" dirty="0">
                        <a:latin typeface="Helvetica Neue" panose="020B0604020202020204" charset="0"/>
                      </a:endParaRP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Helvetica Neue" panose="020B0604020202020204" charset="0"/>
                        </a:rPr>
                        <a:t>Replace manual decision-making with automated predictions</a:t>
                      </a: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50273"/>
                  </a:ext>
                </a:extLst>
              </a:tr>
              <a:tr h="598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Combine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Helvetica Neue" panose="020B0604020202020204" charset="0"/>
                        </a:rPr>
                        <a:t>Integrate multiple ML models with AI-generated insights</a:t>
                      </a: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118873"/>
                  </a:ext>
                </a:extLst>
              </a:tr>
              <a:tr h="598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Adapt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Helvetica Neue" panose="020B0604020202020204" charset="0"/>
                        </a:rPr>
                        <a:t>Use existing datasets and adapt them for predictive modeling</a:t>
                      </a: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178621"/>
                  </a:ext>
                </a:extLst>
              </a:tr>
              <a:tr h="598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Modify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Helvetica Neue" panose="020B0604020202020204" charset="0"/>
                        </a:rPr>
                        <a:t>Improve model accuracy using ensemble techniques</a:t>
                      </a: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757657"/>
                  </a:ext>
                </a:extLst>
              </a:tr>
              <a:tr h="598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Put to Use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elvetica Neue" panose="020B0604020202020204" charset="0"/>
                        </a:rPr>
                        <a:t>Apply data analytics to real-world agricultural challenges</a:t>
                      </a: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874461"/>
                  </a:ext>
                </a:extLst>
              </a:tr>
              <a:tr h="345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Eliminate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Helvetica Neue" panose="020B0604020202020204" charset="0"/>
                        </a:rPr>
                        <a:t>Reduce reliance on guesswork</a:t>
                      </a: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447218"/>
                  </a:ext>
                </a:extLst>
              </a:tr>
              <a:tr h="345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Helvetica Neue" panose="020B0604020202020204" charset="0"/>
                        </a:rPr>
                        <a:t>Reverse</a:t>
                      </a:r>
                      <a:endParaRPr lang="en-IN" sz="1600">
                        <a:latin typeface="Helvetica Neue" panose="020B0604020202020204" charset="0"/>
                      </a:endParaRP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elvetica Neue" panose="020B0604020202020204" charset="0"/>
                        </a:rPr>
                        <a:t>Shift from reactive to proactive farming</a:t>
                      </a:r>
                    </a:p>
                  </a:txBody>
                  <a:tcPr marL="89121" marR="89121" marT="44560" marB="44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333667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B09507-5AB8-C9D2-1821-E9838C6814C8}"/>
              </a:ext>
            </a:extLst>
          </p:cNvPr>
          <p:cNvCxnSpPr>
            <a:cxnSpLocks/>
          </p:cNvCxnSpPr>
          <p:nvPr/>
        </p:nvCxnSpPr>
        <p:spPr>
          <a:xfrm>
            <a:off x="200722" y="930181"/>
            <a:ext cx="0" cy="4033597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E58050-F107-7161-B756-5940C80B51BE}"/>
              </a:ext>
            </a:extLst>
          </p:cNvPr>
          <p:cNvCxnSpPr>
            <a:cxnSpLocks/>
          </p:cNvCxnSpPr>
          <p:nvPr/>
        </p:nvCxnSpPr>
        <p:spPr>
          <a:xfrm>
            <a:off x="200722" y="930181"/>
            <a:ext cx="8524064" cy="50439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F0E575-F146-E1B7-2BEE-3C3CB1987FDC}"/>
              </a:ext>
            </a:extLst>
          </p:cNvPr>
          <p:cNvCxnSpPr/>
          <p:nvPr/>
        </p:nvCxnSpPr>
        <p:spPr>
          <a:xfrm>
            <a:off x="8707016" y="940875"/>
            <a:ext cx="0" cy="4012207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A2AC75-D5A4-C9F3-E232-CEBA00F2DE57}"/>
              </a:ext>
            </a:extLst>
          </p:cNvPr>
          <p:cNvCxnSpPr>
            <a:cxnSpLocks/>
          </p:cNvCxnSpPr>
          <p:nvPr/>
        </p:nvCxnSpPr>
        <p:spPr>
          <a:xfrm>
            <a:off x="200722" y="1397620"/>
            <a:ext cx="8524064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5B2DFD-5B74-062B-B6B5-7FC8C1A5227E}"/>
              </a:ext>
            </a:extLst>
          </p:cNvPr>
          <p:cNvCxnSpPr>
            <a:cxnSpLocks/>
          </p:cNvCxnSpPr>
          <p:nvPr/>
        </p:nvCxnSpPr>
        <p:spPr>
          <a:xfrm>
            <a:off x="2921619" y="951571"/>
            <a:ext cx="0" cy="4019967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993CB0-24ED-832D-4B3B-9D311E2B1D97}"/>
              </a:ext>
            </a:extLst>
          </p:cNvPr>
          <p:cNvCxnSpPr>
            <a:cxnSpLocks/>
          </p:cNvCxnSpPr>
          <p:nvPr/>
        </p:nvCxnSpPr>
        <p:spPr>
          <a:xfrm>
            <a:off x="200722" y="4963778"/>
            <a:ext cx="8524064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a928b83b57_0_92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a928b83b57_0_92"/>
          <p:cNvSpPr txBox="1"/>
          <p:nvPr/>
        </p:nvSpPr>
        <p:spPr>
          <a:xfrm>
            <a:off x="357726" y="788020"/>
            <a:ext cx="7842449" cy="4134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8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Search words used </a:t>
            </a: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SzPts val="1500"/>
              <a:buFont typeface="Arial" panose="020B0604020202020204" pitchFamily="34" charset="0"/>
              <a:buChar char="•"/>
            </a:pPr>
            <a:r>
              <a:rPr lang="en-IN" sz="1600" dirty="0"/>
              <a:t>AI in agriculture.</a:t>
            </a: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Crop recommendation using machine learning.</a:t>
            </a: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SzPts val="1500"/>
              <a:buFont typeface="Arial" panose="020B0604020202020204" pitchFamily="34" charset="0"/>
              <a:buChar char="•"/>
            </a:pPr>
            <a:r>
              <a:rPr lang="en-IN" sz="1600" dirty="0">
                <a:latin typeface="Helvetica Neue" panose="020B0604020202020204" charset="0"/>
              </a:rPr>
              <a:t>Crop yield prediction.</a:t>
            </a: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SzPts val="1500"/>
              <a:buFont typeface="Arial" panose="020B0604020202020204" pitchFamily="34" charset="0"/>
              <a:buChar char="•"/>
            </a:pPr>
            <a:r>
              <a:rPr lang="en-IN" sz="1600" dirty="0">
                <a:latin typeface="Helvetica Neue" panose="020B0604020202020204" charset="0"/>
              </a:rPr>
              <a:t>Drought prediction using AI.</a:t>
            </a: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SzPts val="15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</a:rPr>
              <a:t>Pest detection using machine learning.</a:t>
            </a: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SzPts val="1500"/>
              <a:buFont typeface="Arial" panose="020B0604020202020204" pitchFamily="34" charset="0"/>
              <a:buChar char="•"/>
            </a:pPr>
            <a:r>
              <a:rPr lang="en-IN" sz="1600" dirty="0">
                <a:latin typeface="Helvetica Neue" panose="020B0604020202020204" charset="0"/>
              </a:rPr>
              <a:t>Fertilizer recommendation system.</a:t>
            </a: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SzPts val="1500"/>
              <a:buFont typeface="Arial" panose="020B0604020202020204" pitchFamily="34" charset="0"/>
              <a:buChar char="•"/>
            </a:pPr>
            <a:r>
              <a:rPr lang="en-IN" sz="1600" dirty="0">
                <a:latin typeface="Helvetica Neue" panose="020B0604020202020204" charset="0"/>
              </a:rPr>
              <a:t>Agriculture market price prediction.</a:t>
            </a:r>
            <a:endParaRPr sz="1600" dirty="0">
              <a:solidFill>
                <a:srgbClr val="595959"/>
              </a:solidFill>
              <a:latin typeface="Helvetica Neue" panose="020B0604020202020204" charset="0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8" name="Google Shape;118;g3a928b83b57_0_92"/>
          <p:cNvSpPr txBox="1"/>
          <p:nvPr/>
        </p:nvSpPr>
        <p:spPr>
          <a:xfrm>
            <a:off x="357726" y="221000"/>
            <a:ext cx="7160400" cy="56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Literature Insights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g3a928b83b57_0_92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7BAAE-A81F-731D-65D8-56D5B1685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01F9B8-C190-C910-ABB8-69E2BD7BA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150" y="171450"/>
            <a:ext cx="8521700" cy="462280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Selected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A Review on Machine Learning Techniques for Crop Yield Prediction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“A Review on Machine Learning Techniques for Crop Yield Prediction,” Computers and Electronics in Agriculture, 2024.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DOI: 10.1016/j.compag.2024.xxxxxx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IN" sz="1600" dirty="0">
                <a:solidFill>
                  <a:schemeClr val="tx1"/>
                </a:solidFill>
                <a:latin typeface="Helvetica Neue" panose="020B0604020202020204" charset="0"/>
              </a:rPr>
              <a:t>Official Link : </a:t>
            </a:r>
            <a:r>
              <a:rPr lang="en-IN" sz="1600" dirty="0">
                <a:hlinkClick r:id="rId2"/>
              </a:rPr>
              <a:t>https://doi.org/10.1016/j.compag.2024.xxxxxx</a:t>
            </a:r>
            <a:endParaRPr lang="en-IN" sz="1600" dirty="0"/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Machine Learning-Based Crop Recommendation System Using Soil and Weather Data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“Machine Learning-Based Crop Recommendation System Using Soil and Weather Data,” Journal of Agricultural Informatics, 2025.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DOI: 10.17700/jai.2025.xxxxxx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IN" sz="1600" dirty="0">
                <a:solidFill>
                  <a:schemeClr val="tx1"/>
                </a:solidFill>
                <a:latin typeface="Helvetica Neue" panose="020B0604020202020204" charset="0"/>
              </a:rPr>
              <a:t>Official Link : </a:t>
            </a:r>
            <a:r>
              <a:rPr lang="en-IN" sz="1600" dirty="0">
                <a:solidFill>
                  <a:schemeClr val="tx1"/>
                </a:solidFill>
                <a:hlinkClick r:id="rId3"/>
              </a:rPr>
              <a:t>https://doi.org/10.17700/jai.2025.xxxxxx</a:t>
            </a:r>
            <a:endParaRPr lang="en-IN" sz="16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Deep Learning for Plant Disease Detection: A Survey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“Deep Learning for Plant Disease Detection: A Survey,” Artificial Intelligence in Agriculture, 2024.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DOI: 10.1016/j.aiia.2024.xxxxxx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IN" sz="1600" dirty="0">
                <a:solidFill>
                  <a:schemeClr val="tx1"/>
                </a:solidFill>
                <a:latin typeface="Helvetica Neue" panose="020B0604020202020204" charset="0"/>
              </a:rPr>
              <a:t>Official Link : </a:t>
            </a:r>
            <a:r>
              <a:rPr lang="en-IN" sz="1600" dirty="0">
                <a:solidFill>
                  <a:schemeClr val="tx1"/>
                </a:solidFill>
                <a:hlinkClick r:id="rId4"/>
              </a:rPr>
              <a:t>https://doi.org/10.1016/j.aiia.2024.xxxxxx</a:t>
            </a:r>
            <a:endParaRPr lang="en-IN" sz="1600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endParaRPr lang="en-IN" sz="1600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endParaRPr lang="en-IN" sz="1600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endParaRPr lang="en-IN" sz="16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IN" sz="16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637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B0D30-26D8-3B42-B647-20860A093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8420"/>
            <a:ext cx="8520600" cy="4586868"/>
          </a:xfrm>
        </p:spPr>
        <p:txBody>
          <a:bodyPr/>
          <a:lstStyle/>
          <a:p>
            <a:pPr marL="114300" indent="0">
              <a:lnSpc>
                <a:spcPct val="150000"/>
              </a:lnSpc>
              <a:buNone/>
            </a:pPr>
            <a:r>
              <a:rPr lang="en-US" dirty="0"/>
              <a:t>4. </a:t>
            </a: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Drought Prediction Using Machine Learning Models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  “Drought Prediction Using Machine Learning Models,” Environmental Modelling             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   &amp; Software, 2024.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   DOI: 10.1016/j.envsoft.2024.xxxxxx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>
                <a:latin typeface="Helvetica Neue" panose="020B0604020202020204" charset="0"/>
              </a:rPr>
              <a:t>    </a:t>
            </a:r>
            <a:r>
              <a:rPr lang="en-IN" sz="1600" dirty="0">
                <a:solidFill>
                  <a:schemeClr val="tx1"/>
                </a:solidFill>
                <a:latin typeface="Helvetica Neue" panose="020B0604020202020204" charset="0"/>
              </a:rPr>
              <a:t>Official Link : </a:t>
            </a:r>
            <a:r>
              <a:rPr lang="en-IN" dirty="0">
                <a:solidFill>
                  <a:schemeClr val="tx1"/>
                </a:solidFill>
                <a:hlinkClick r:id="rId2"/>
              </a:rPr>
              <a:t>https://doi.org/10.1016/j.envsoft.2024.xxxxxx</a:t>
            </a:r>
            <a:endParaRPr lang="en-IN" dirty="0">
              <a:solidFill>
                <a:schemeClr val="tx1"/>
              </a:solidFill>
            </a:endParaRPr>
          </a:p>
          <a:p>
            <a:pPr marL="11430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5. </a:t>
            </a: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Agricultural Market Price Forecasting Using Machine Learning                                            </a:t>
            </a:r>
            <a:b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    Techniques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  “Agricultural Market Price Forecasting Using Machine Learning Techniques,” 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   Expert Systems with Applications, 2025.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   DOI: 10.1016/j.eswa.2025.xxxxxx</a:t>
            </a:r>
            <a:b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</a:b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   Official Link : </a:t>
            </a:r>
            <a:r>
              <a:rPr lang="en-US" dirty="0">
                <a:solidFill>
                  <a:schemeClr val="tx1"/>
                </a:solidFill>
                <a:hlinkClick r:id="rId3"/>
              </a:rPr>
              <a:t>https://doi.org/10.1016/j.eswa.2025.xxxxxx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79312-A831-E950-75DE-26A51E4C56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004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4767A-2629-B6A2-E71F-9A614C8A59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13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CF4A59-5150-F45F-156D-BA72DB1C3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623" y="757626"/>
            <a:ext cx="8521700" cy="3769769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Existing systems focus on single tasks (only crop prediction or disease detection).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Lack of integrated platforms combining multiple agricultural predictions.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Limited real-time insights and decision-support systems.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Poor interpretability of ML models for farmers.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Lack of user-friendly and accessible solutions for rural users.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Need for cost-effective and scalable AI-based agriculture systems.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442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bb61f4e995_0_85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bb61f4e995_0_85"/>
          <p:cNvSpPr txBox="1"/>
          <p:nvPr/>
        </p:nvSpPr>
        <p:spPr>
          <a:xfrm>
            <a:off x="223024" y="706244"/>
            <a:ext cx="8355981" cy="358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Bef>
                <a:spcPts val="1200"/>
              </a:spcBef>
              <a:buSzPts val="1500"/>
              <a:buFont typeface="Arial" panose="020B0604020202020204" pitchFamily="34" charset="0"/>
              <a:buChar char="•"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16F4BA1-06C4-6DDF-4203-881AE4268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55" y="497475"/>
            <a:ext cx="4690059" cy="46460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Helvetica Neue" panose="020B0604020202020204" charset="0"/>
              </a:rPr>
              <a:t>Input Stage:</a:t>
            </a:r>
            <a:r>
              <a:rPr lang="en-US" dirty="0">
                <a:solidFill>
                  <a:schemeClr val="tx1"/>
                </a:solidFill>
                <a:latin typeface="Helvetica Neue" panose="020B0604020202020204" charset="0"/>
              </a:rPr>
              <a:t> Collect soil, weather, crop, and market data from various sources.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Helvetica Neue" panose="020B0604020202020204" charset="0"/>
              </a:rPr>
              <a:t>Preprocessing Stage:</a:t>
            </a:r>
            <a:r>
              <a:rPr lang="en-US" dirty="0">
                <a:solidFill>
                  <a:schemeClr val="tx1"/>
                </a:solidFill>
                <a:latin typeface="Helvetica Neue" panose="020B0604020202020204" charset="0"/>
              </a:rPr>
              <a:t> Clean and normalize the collected data for model input.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Helvetica Neue" panose="020B0604020202020204" charset="0"/>
              </a:rPr>
              <a:t>Model Training Stage:</a:t>
            </a:r>
            <a:r>
              <a:rPr lang="en-US" dirty="0">
                <a:solidFill>
                  <a:schemeClr val="tx1"/>
                </a:solidFill>
                <a:latin typeface="Helvetica Neue" panose="020B0604020202020204" charset="0"/>
              </a:rPr>
              <a:t> Train machine learning models to perform multiple agricultural predictions.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Helvetica Neue" panose="020B0604020202020204" charset="0"/>
              </a:rPr>
              <a:t>Prediction Stage:</a:t>
            </a:r>
            <a:r>
              <a:rPr lang="en-US" dirty="0">
                <a:solidFill>
                  <a:schemeClr val="tx1"/>
                </a:solidFill>
                <a:latin typeface="Helvetica Neue" panose="020B0604020202020204" charset="0"/>
              </a:rPr>
              <a:t> Generate predictions such as crop recommendation, yield forecast, drought prediction, and pest detection.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Helvetica Neue" panose="020B0604020202020204" charset="0"/>
              </a:rPr>
              <a:t>AI Insight Generation:</a:t>
            </a:r>
            <a:r>
              <a:rPr lang="en-US" dirty="0">
                <a:solidFill>
                  <a:schemeClr val="tx1"/>
                </a:solidFill>
                <a:latin typeface="Helvetica Neue" panose="020B0604020202020204" charset="0"/>
              </a:rPr>
              <a:t> Convert model outputs into user-friendly insights using AI (OpenAI API).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Helvetica Neue" panose="020B0604020202020204" charset="0"/>
              </a:rPr>
              <a:t>Result Display:</a:t>
            </a:r>
            <a:r>
              <a:rPr lang="en-US" dirty="0">
                <a:solidFill>
                  <a:schemeClr val="tx1"/>
                </a:solidFill>
                <a:latin typeface="Helvetica Neue" panose="020B0604020202020204" charset="0"/>
              </a:rPr>
              <a:t> Show predictions and explanations through an intuitive interface for farmers.</a:t>
            </a:r>
            <a:endParaRPr lang="en-IN" dirty="0">
              <a:solidFill>
                <a:schemeClr val="tx1"/>
              </a:solidFill>
              <a:latin typeface="Helvetica Neue" panose="020B060402020202020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67C61F-6C79-C797-0BBD-FCA7DD0243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765155" y="894325"/>
            <a:ext cx="3999901" cy="3902030"/>
          </a:xfrm>
        </p:spPr>
        <p:txBody>
          <a:bodyPr/>
          <a:lstStyle/>
          <a:p>
            <a:pPr marL="139700" indent="0">
              <a:buNone/>
            </a:pPr>
            <a:endParaRPr lang="en-IN" dirty="0"/>
          </a:p>
        </p:txBody>
      </p:sp>
      <p:sp>
        <p:nvSpPr>
          <p:cNvPr id="127" name="Google Shape;127;g3bb61f4e995_0_8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17" name="Google Shape;126;g3bb61f4e995_0_85"/>
          <p:cNvSpPr txBox="1">
            <a:spLocks noGrp="1"/>
          </p:cNvSpPr>
          <p:nvPr>
            <p:ph type="title"/>
          </p:nvPr>
        </p:nvSpPr>
        <p:spPr>
          <a:xfrm>
            <a:off x="311150" y="86676"/>
            <a:ext cx="8521700" cy="50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Helvetica Neue" panose="020B0604020202020204" charset="0"/>
              </a:rPr>
              <a:t>Proposed Solution</a:t>
            </a:r>
            <a:br>
              <a:rPr lang="en-IN" b="1" dirty="0"/>
            </a:b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17793B6-7FD9-4F9D-C237-3C6338087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579" y="851074"/>
            <a:ext cx="4067695" cy="40182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A57AF85-0DA0-77D9-71CC-7630C2C60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968" y="86675"/>
            <a:ext cx="3902699" cy="47306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bb61f4e995_0_9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bb61f4e995_0_94"/>
          <p:cNvSpPr txBox="1"/>
          <p:nvPr/>
        </p:nvSpPr>
        <p:spPr>
          <a:xfrm>
            <a:off x="193288" y="86675"/>
            <a:ext cx="7667575" cy="89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i="0" u="none" strike="noStrike" cap="none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Installation &amp; System Overview (Basic Diagram)Configuration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g3bb61f4e995_0_9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B3DEB-E8A7-ACC3-42DA-C85DB3303D2B}"/>
              </a:ext>
            </a:extLst>
          </p:cNvPr>
          <p:cNvSpPr txBox="1"/>
          <p:nvPr/>
        </p:nvSpPr>
        <p:spPr>
          <a:xfrm>
            <a:off x="219018" y="1066800"/>
            <a:ext cx="8274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Helvetica Neue" panose="020B0604020202020204" charset="0"/>
              </a:rPr>
              <a:t>Installation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57DDF-9D1C-F2EE-59DE-1614FA591BE8}"/>
              </a:ext>
            </a:extLst>
          </p:cNvPr>
          <p:cNvSpPr txBox="1"/>
          <p:nvPr/>
        </p:nvSpPr>
        <p:spPr>
          <a:xfrm>
            <a:off x="193287" y="1358207"/>
            <a:ext cx="800688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latin typeface="Helvetica Neue" panose="020B0604020202020204" charset="0"/>
              </a:rPr>
              <a:t>● Install </a:t>
            </a:r>
            <a:r>
              <a:rPr lang="en-IN" sz="1600" b="1" dirty="0">
                <a:latin typeface="Helvetica Neue" panose="020B0604020202020204" charset="0"/>
              </a:rPr>
              <a:t>Python 3.10 or above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Install required libraries: </a:t>
            </a:r>
            <a:r>
              <a:rPr lang="en-IN" sz="1600" b="1" dirty="0">
                <a:latin typeface="Helvetica Neue" panose="020B0604020202020204" charset="0"/>
              </a:rPr>
              <a:t>Scikit-learn, NumPy, Pandas, Flask, OpenAI API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Install frontend tools: </a:t>
            </a:r>
            <a:r>
              <a:rPr lang="en-IN" sz="1600" b="1" dirty="0">
                <a:latin typeface="Helvetica Neue" panose="020B0604020202020204" charset="0"/>
              </a:rPr>
              <a:t>Node.js, React, Tailwind CSS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Install database: </a:t>
            </a:r>
            <a:r>
              <a:rPr lang="en-IN" sz="1600" b="1" dirty="0" err="1">
                <a:latin typeface="Helvetica Neue" panose="020B0604020202020204" charset="0"/>
              </a:rPr>
              <a:t>Supabase</a:t>
            </a:r>
            <a:r>
              <a:rPr lang="en-IN" sz="1600" b="1" dirty="0">
                <a:latin typeface="Helvetica Neue" panose="020B0604020202020204" charset="0"/>
              </a:rPr>
              <a:t> 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Use </a:t>
            </a:r>
            <a:r>
              <a:rPr lang="en-IN" sz="1600" b="1" dirty="0">
                <a:latin typeface="Helvetica Neue" panose="020B0604020202020204" charset="0"/>
              </a:rPr>
              <a:t>VS Code</a:t>
            </a:r>
            <a:r>
              <a:rPr lang="en-IN" sz="1600" dirty="0">
                <a:latin typeface="Helvetica Neue" panose="020B0604020202020204" charset="0"/>
              </a:rPr>
              <a:t> for development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System requirement: </a:t>
            </a:r>
            <a:r>
              <a:rPr lang="en-IN" sz="1600" b="1" dirty="0">
                <a:latin typeface="Helvetica Neue" panose="020B0604020202020204" charset="0"/>
              </a:rPr>
              <a:t>Intel i5 8–16GB RAM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F8E69-31E3-1903-942E-D40A0544CE91}"/>
              </a:ext>
            </a:extLst>
          </p:cNvPr>
          <p:cNvSpPr txBox="1"/>
          <p:nvPr/>
        </p:nvSpPr>
        <p:spPr>
          <a:xfrm>
            <a:off x="193287" y="297403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Helvetica Neue" panose="020B0604020202020204" charset="0"/>
              </a:rPr>
              <a:t>Configuration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5498A-C939-6C80-7348-E21CA80F9D2B}"/>
              </a:ext>
            </a:extLst>
          </p:cNvPr>
          <p:cNvSpPr txBox="1"/>
          <p:nvPr/>
        </p:nvSpPr>
        <p:spPr>
          <a:xfrm>
            <a:off x="193287" y="3240943"/>
            <a:ext cx="82072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Helvetica Neue" panose="020B0604020202020204" charset="0"/>
              </a:rPr>
              <a:t>● </a:t>
            </a:r>
            <a:r>
              <a:rPr lang="en-IN" sz="1600" b="1" dirty="0">
                <a:latin typeface="Helvetica Neue" panose="020B0604020202020204" charset="0"/>
              </a:rPr>
              <a:t>Programming Language:</a:t>
            </a:r>
            <a:r>
              <a:rPr lang="en-IN" sz="1600" dirty="0">
                <a:latin typeface="Helvetica Neue" panose="020B0604020202020204" charset="0"/>
              </a:rPr>
              <a:t> Python, JavaScript (TypeScript)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</a:t>
            </a:r>
            <a:r>
              <a:rPr lang="en-IN" sz="1600" b="1" dirty="0">
                <a:latin typeface="Helvetica Neue" panose="020B0604020202020204" charset="0"/>
              </a:rPr>
              <a:t>Frontend:</a:t>
            </a:r>
            <a:r>
              <a:rPr lang="en-IN" sz="1600" dirty="0">
                <a:latin typeface="Helvetica Neue" panose="020B0604020202020204" charset="0"/>
              </a:rPr>
              <a:t> React + Tailwind CSS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</a:t>
            </a:r>
            <a:r>
              <a:rPr lang="en-IN" sz="1600" b="1" dirty="0">
                <a:latin typeface="Helvetica Neue" panose="020B0604020202020204" charset="0"/>
              </a:rPr>
              <a:t>Backend:</a:t>
            </a:r>
            <a:r>
              <a:rPr lang="en-IN" sz="1600" dirty="0">
                <a:latin typeface="Helvetica Neue" panose="020B0604020202020204" charset="0"/>
              </a:rPr>
              <a:t> Flask (Python REST API)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</a:t>
            </a:r>
            <a:r>
              <a:rPr lang="en-IN" sz="1600" b="1" dirty="0">
                <a:latin typeface="Helvetica Neue" panose="020B0604020202020204" charset="0"/>
              </a:rPr>
              <a:t>Machine Learning:</a:t>
            </a:r>
            <a:r>
              <a:rPr lang="en-IN" sz="1600" dirty="0">
                <a:latin typeface="Helvetica Neue" panose="020B0604020202020204" charset="0"/>
              </a:rPr>
              <a:t> Scikit-learn (Random Forest Models)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</a:t>
            </a:r>
            <a:r>
              <a:rPr lang="en-IN" sz="1600" b="1" dirty="0">
                <a:latin typeface="Helvetica Neue" panose="020B0604020202020204" charset="0"/>
              </a:rPr>
              <a:t>Database:</a:t>
            </a:r>
            <a:r>
              <a:rPr lang="en-IN" sz="1600" dirty="0">
                <a:latin typeface="Helvetica Neue" panose="020B0604020202020204" charset="0"/>
              </a:rPr>
              <a:t> Supa base (PostgreSQL)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</a:t>
            </a:r>
            <a:r>
              <a:rPr lang="en-IN" sz="1600" b="1" dirty="0">
                <a:latin typeface="Helvetica Neue" panose="020B0604020202020204" charset="0"/>
              </a:rPr>
              <a:t>AI Insight Engine:</a:t>
            </a:r>
            <a:r>
              <a:rPr lang="en-IN" sz="1600" dirty="0">
                <a:latin typeface="Helvetica Neue" panose="020B0604020202020204" charset="0"/>
              </a:rPr>
              <a:t> OpenAI API</a:t>
            </a:r>
            <a:br>
              <a:rPr lang="en-IN" sz="1600" dirty="0">
                <a:latin typeface="Helvetica Neue" panose="020B0604020202020204" charset="0"/>
              </a:rPr>
            </a:br>
            <a:r>
              <a:rPr lang="en-IN" sz="1600" dirty="0">
                <a:latin typeface="Helvetica Neue" panose="020B0604020202020204" charset="0"/>
              </a:rPr>
              <a:t>● </a:t>
            </a:r>
            <a:r>
              <a:rPr lang="en-IN" sz="1600" b="1" dirty="0">
                <a:latin typeface="Helvetica Neue" panose="020B0604020202020204" charset="0"/>
              </a:rPr>
              <a:t>Platform:</a:t>
            </a:r>
            <a:r>
              <a:rPr lang="en-IN" sz="1600" dirty="0">
                <a:latin typeface="Helvetica Neue" panose="020B0604020202020204" charset="0"/>
              </a:rPr>
              <a:t> Windows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bb61f4e995_0_11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bb61f4e995_0_114"/>
          <p:cNvSpPr txBox="1"/>
          <p:nvPr/>
        </p:nvSpPr>
        <p:spPr>
          <a:xfrm>
            <a:off x="646050" y="690725"/>
            <a:ext cx="71604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Gantt Chart</a:t>
            </a:r>
            <a:endParaRPr sz="3100" b="1" i="0" u="none" strike="noStrike" cap="none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g3bb61f4e995_0_11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graphicFrame>
        <p:nvGraphicFramePr>
          <p:cNvPr id="142" name="Google Shape;142;g3bb61f4e995_0_114"/>
          <p:cNvGraphicFramePr/>
          <p:nvPr/>
        </p:nvGraphicFramePr>
        <p:xfrm>
          <a:off x="90613" y="1516275"/>
          <a:ext cx="8879800" cy="3139758"/>
        </p:xfrm>
        <a:graphic>
          <a:graphicData uri="http://schemas.openxmlformats.org/drawingml/2006/table">
            <a:tbl>
              <a:tblPr>
                <a:noFill/>
                <a:tableStyleId>{573F6710-D862-490A-8465-586B70FE38A5}</a:tableStyleId>
              </a:tblPr>
              <a:tblGrid>
                <a:gridCol w="6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66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Project Details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2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3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4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5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6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7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8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9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10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11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12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13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14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15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16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bb61f4e995_0_12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bb61f4e995_0_1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  <p:sp>
        <p:nvSpPr>
          <p:cNvPr id="4" name="Google Shape;148;g3bb61f4e995_0_124"/>
          <p:cNvSpPr txBox="1">
            <a:spLocks noGrp="1"/>
          </p:cNvSpPr>
          <p:nvPr>
            <p:ph type="title"/>
          </p:nvPr>
        </p:nvSpPr>
        <p:spPr>
          <a:xfrm>
            <a:off x="311150" y="87313"/>
            <a:ext cx="8521700" cy="589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GB" b="1" dirty="0">
                <a:solidFill>
                  <a:srgbClr val="09134D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Expected Outcome</a:t>
            </a:r>
            <a:br>
              <a:rPr lang="en-GB" b="1" dirty="0">
                <a:solidFill>
                  <a:srgbClr val="09134D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</a:b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0B0672-DAF7-5F45-C832-00F40AED6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94324"/>
            <a:ext cx="8520600" cy="3870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A fully functional </a:t>
            </a: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AI-powered smart agriculture platform</a:t>
            </a: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for decision support.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Accurate predictions for </a:t>
            </a: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crop recommendation, yield, drought, pest risk, and market prices.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Improved </a:t>
            </a: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farmer decision-making</a:t>
            </a: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through data-driven insights.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Reduced risks and losses</a:t>
            </a: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caused by climate variability and pests.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Enhanced </a:t>
            </a: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productivity and profitability</a:t>
            </a: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 in farming practices.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User-friendly interface providing </a:t>
            </a: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easy-to-understand AI-generated explanations.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Integrated system combining multiple ML models in one platform.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Helvetica Neue" panose="020B0604020202020204" charset="0"/>
              </a:rPr>
              <a:t>Scalable and efficient solution applicable to </a:t>
            </a:r>
            <a:r>
              <a:rPr lang="en-US" sz="1600" b="1" dirty="0">
                <a:solidFill>
                  <a:schemeClr val="tx1"/>
                </a:solidFill>
                <a:latin typeface="Helvetica Neue" panose="020B0604020202020204" charset="0"/>
              </a:rPr>
              <a:t>real-world agricultural scenarios.</a:t>
            </a:r>
            <a:endParaRPr lang="en-IN" sz="1600" dirty="0">
              <a:solidFill>
                <a:schemeClr val="tx1"/>
              </a:solidFill>
              <a:latin typeface="Helvetica Neue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4297</TotalTime>
  <Words>1352</Words>
  <Application>Microsoft Office PowerPoint</Application>
  <PresentationFormat>On-screen Show (16:9)</PresentationFormat>
  <Paragraphs>208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</vt:lpstr>
      <vt:lpstr>Helvetica Neue Light</vt:lpstr>
      <vt:lpstr>Helvetica Neue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Solution </vt:lpstr>
      <vt:lpstr>PowerPoint Presentation</vt:lpstr>
      <vt:lpstr>PowerPoint Presentation</vt:lpstr>
      <vt:lpstr>Expected Outcome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M Wandimali</dc:creator>
  <cp:lastModifiedBy>Pooja M Wandimali</cp:lastModifiedBy>
  <cp:revision>4</cp:revision>
  <dcterms:modified xsi:type="dcterms:W3CDTF">2026-04-20T06:00:45Z</dcterms:modified>
</cp:coreProperties>
</file>